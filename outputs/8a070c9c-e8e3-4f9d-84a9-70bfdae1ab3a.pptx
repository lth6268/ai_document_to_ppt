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人工智能主要发展方向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人工智能概述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0E0E0"/>
                </a:solidFill>
              </a:defRPr>
            </a:pPr>
            <a:r>
              <a:t>•  定义：模拟人类智能的系统，用于自动化决策和问题解决</a:t>
            </a:r>
          </a:p>
          <a:p>
            <a:pPr>
              <a:spcAft>
                <a:spcPts val="1400"/>
              </a:spcAft>
              <a:defRPr sz="2200">
                <a:solidFill>
                  <a:srgbClr val="E0E0E0"/>
                </a:solidFill>
              </a:defRPr>
            </a:pPr>
            <a:r>
              <a:t>•  重要性：提高效率、推动技术进步，如AI在医疗和交通的应用</a:t>
            </a:r>
          </a:p>
          <a:p>
            <a:pPr>
              <a:spcAft>
                <a:spcPts val="1400"/>
              </a:spcAft>
              <a:defRPr sz="2200">
                <a:solidFill>
                  <a:srgbClr val="E0E0E0"/>
                </a:solidFill>
              </a:defRPr>
            </a:pPr>
            <a:r>
              <a:t>•  模块1：主要发展方向，包括软硬件基础和现代方法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人类与人工智能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0E0E0"/>
                </a:solidFill>
              </a:defRPr>
            </a:pPr>
            <a:r>
              <a:t>•  人类智能特征：学习、抽象思维、情感和创造力</a:t>
            </a:r>
          </a:p>
          <a:p>
            <a:pPr>
              <a:spcAft>
                <a:spcPts val="1400"/>
              </a:spcAft>
              <a:defRPr sz="2200">
                <a:solidFill>
                  <a:srgbClr val="E0E0E0"/>
                </a:solidFill>
              </a:defRPr>
            </a:pPr>
            <a:r>
              <a:t>•  AI定义：基于算法和数据的系统，模拟人类行为</a:t>
            </a:r>
          </a:p>
          <a:p>
            <a:pPr>
              <a:spcAft>
                <a:spcPts val="1400"/>
              </a:spcAft>
              <a:defRPr sz="2200">
                <a:solidFill>
                  <a:srgbClr val="E0E0E0"/>
                </a:solidFill>
              </a:defRPr>
            </a:pPr>
            <a:r>
              <a:t>•  目标：扩展人类能力，解决复杂问题，如游戏和语言处理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人工智能的三波发展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0E0E0"/>
                </a:solidFill>
              </a:defRPr>
            </a:pPr>
            <a:r>
              <a:t>•  第一波（1950s-1980s）：符号AI，专注于逻辑推理和问题解决</a:t>
            </a:r>
          </a:p>
          <a:p>
            <a:pPr>
              <a:spcAft>
                <a:spcPts val="1400"/>
              </a:spcAft>
              <a:defRPr sz="2200">
                <a:solidFill>
                  <a:srgbClr val="E0E0E0"/>
                </a:solidFill>
              </a:defRPr>
            </a:pPr>
            <a:r>
              <a:t>•  第二波（1980s-1990s）：停滞期，因计算复杂性导致应用受限</a:t>
            </a:r>
          </a:p>
          <a:p>
            <a:pPr>
              <a:spcAft>
                <a:spcPts val="1400"/>
              </a:spcAft>
              <a:defRPr sz="2200">
                <a:solidFill>
                  <a:srgbClr val="E0E0E0"/>
                </a:solidFill>
              </a:defRPr>
            </a:pPr>
            <a:r>
              <a:t>•  第三波（2010s-现在）：深度学习，结合大数据实现突破性应用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AI系统分类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0E0E0"/>
                </a:solidFill>
              </a:defRPr>
            </a:pPr>
            <a:r>
              <a:t>•  弱AI（专用）：针对特定任务，如语音助手或图像识别</a:t>
            </a:r>
          </a:p>
          <a:p>
            <a:pPr>
              <a:spcAft>
                <a:spcPts val="1400"/>
              </a:spcAft>
              <a:defRPr sz="2200">
                <a:solidFill>
                  <a:srgbClr val="E0E0E0"/>
                </a:solidFill>
              </a:defRPr>
            </a:pPr>
            <a:r>
              <a:t>•  强AI（通用）：理论上能处理任何智力任务，目前仍为概念</a:t>
            </a:r>
          </a:p>
          <a:p>
            <a:pPr>
              <a:spcAft>
                <a:spcPts val="1400"/>
              </a:spcAft>
              <a:defRPr sz="2200">
                <a:solidFill>
                  <a:srgbClr val="E0E0E0"/>
                </a:solidFill>
              </a:defRPr>
            </a:pPr>
            <a:r>
              <a:t>•  当前趋势：主要发展弱AI，应用广泛，强AI尚未实现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AI软硬件基础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0E0E0"/>
                </a:solidFill>
              </a:defRPr>
            </a:pPr>
            <a:r>
              <a:t>•  软件：包括算法、机器学习模型和编程框架</a:t>
            </a:r>
          </a:p>
          <a:p>
            <a:pPr>
              <a:spcAft>
                <a:spcPts val="1400"/>
              </a:spcAft>
              <a:defRPr sz="2200">
                <a:solidFill>
                  <a:srgbClr val="E0E0E0"/>
                </a:solidFill>
              </a:defRPr>
            </a:pPr>
            <a:r>
              <a:t>•  硬件：依赖计算机、GPU等提供计算能力</a:t>
            </a:r>
          </a:p>
          <a:p>
            <a:pPr>
              <a:spcAft>
                <a:spcPts val="1400"/>
              </a:spcAft>
              <a:defRPr sz="2200">
                <a:solidFill>
                  <a:srgbClr val="E0E0E0"/>
                </a:solidFill>
              </a:defRPr>
            </a:pPr>
            <a:r>
              <a:t>•  支持AI发展：软硬件结合推动创新应用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现代AI方法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0E0E0"/>
                </a:solidFill>
              </a:defRPr>
            </a:pPr>
            <a:r>
              <a:t>•  大数据：提供海量数据训练AI模型</a:t>
            </a:r>
          </a:p>
          <a:p>
            <a:pPr>
              <a:spcAft>
                <a:spcPts val="1400"/>
              </a:spcAft>
              <a:defRPr sz="2200">
                <a:solidFill>
                  <a:srgbClr val="E0E0E0"/>
                </a:solidFill>
              </a:defRPr>
            </a:pPr>
            <a:r>
              <a:t>•  深度学习：使用神经网络处理复杂模式识别</a:t>
            </a:r>
          </a:p>
          <a:p>
            <a:pPr>
              <a:spcAft>
                <a:spcPts val="1400"/>
              </a:spcAft>
              <a:defRPr sz="2200">
                <a:solidFill>
                  <a:srgbClr val="E0E0E0"/>
                </a:solidFill>
              </a:defRPr>
            </a:pPr>
            <a:r>
              <a:t>•  应用：包括自动驾驶、自然语言处理和智能推荐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